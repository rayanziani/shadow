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Nous sommes l'équipe du groupe 1. Notre sujet : un système de paiement</a:t>
            </a:r>
          </a:p>
          <a:p>
            <a:r>
              <a:t>fictif qui doit encaisser une attaque et se rétablir seul, sans intervention.</a:t>
            </a:r>
          </a:p>
          <a:p/>
          <a:p>
            <a:r>
              <a:t>Une phrase pour planter le décor : « tout système finit par tomber ; la vraie</a:t>
            </a:r>
          </a:p>
          <a:p>
            <a:r>
              <a:t>question, c'est si le vôtre saura se relever seul. » C'est exactement ce que</a:t>
            </a:r>
          </a:p>
          <a:p>
            <a:r>
              <a:t>nous allons vous montrer, en direct, depuis deux machines distinctes.</a:t>
            </a:r>
          </a:p>
          <a:p/>
          <a:p>
            <a:r>
              <a:t>Les quatre chiffres en bas sont ceux que nous allons prouver : 19 services,</a:t>
            </a:r>
          </a:p>
          <a:p>
            <a:r>
              <a:t>226 tests, 12 failles fermées, et une reprise en 7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de départ est banal : une plateforme tombe, on la relance à la main.</a:t>
            </a:r>
          </a:p>
          <a:p>
            <a:r>
              <a:t>C'est lent, ce n'est pas reproductible, et surtout ça ne prouve rien : après un</a:t>
            </a:r>
          </a:p>
          <a:p>
            <a:r>
              <a:t>redémarrage, on ne sait pas si le service fonctionne vraiment.</a:t>
            </a:r>
          </a:p>
          <a:p/>
          <a:p>
            <a:r>
              <a:t>Le sujet interdit deux raccourcis : une attaque « pour de faux », et une</a:t>
            </a:r>
          </a:p>
          <a:p>
            <a:r>
              <a:t>détection par seuils fixes. Il impose une attaque réelle depuis un autre poste,</a:t>
            </a:r>
          </a:p>
          <a:p>
            <a:r>
              <a:t>un modèle entraîné, et une preuve : une nouvelle transaction qui réussit.</a:t>
            </a:r>
          </a:p>
          <a:p/>
          <a:p>
            <a:r>
              <a:t>C'est cette chaîne complète que nous mesurons en 6,7 à 7,7 secondes, pour une</a:t>
            </a:r>
          </a:p>
          <a:p>
            <a:r>
              <a:t>limite de 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Voilà la chaîne en quatre temps. Un poste attaquant distinct empoisonne les</a:t>
            </a:r>
          </a:p>
          <a:p>
            <a:r>
              <a:t>leurres de l'anneau. Le détecteur franchit un seuil qu'il a appris. Le moteur</a:t>
            </a:r>
          </a:p>
          <a:p>
            <a:r>
              <a:t>lance un vrai playbook Ansible : déception, quarantaine, durcissement. Et la</a:t>
            </a:r>
          </a:p>
          <a:p>
            <a:r>
              <a:t>preuve, ce n'est pas un voyant vert : c'est une transaction client qui passe.</a:t>
            </a:r>
          </a:p>
          <a:p/>
          <a:p>
            <a:r>
              <a:t>Le point important pour la grille : personne ne touche au clavier entre l'attaque</a:t>
            </a:r>
          </a:p>
          <a:p>
            <a:r>
              <a:t>et la reprise. Et le geste de la fin est un paiement de client, pas une action</a:t>
            </a:r>
          </a:p>
          <a:p>
            <a:r>
              <a:t>d'administration.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n'allons pas décrire les dix-neuf conteneurs. Regardez les flèches.</a:t>
            </a:r>
          </a:p>
          <a:p/>
          <a:p>
            <a:r>
              <a:t>L'attaquant entre par le WAF, comme un client. Le paiement appelle le noyau Rust</a:t>
            </a:r>
          </a:p>
          <a:p>
            <a:r>
              <a:t>à chaque transaction. La télémétrie part vers le détecteur, qui appelle le</a:t>
            </a:r>
          </a:p>
          <a:p>
            <a:r>
              <a:t>moteur, qui exécute Ansible : déception vers le honeypot, quarantaine et</a:t>
            </a:r>
          </a:p>
          <a:p>
            <a:r>
              <a:t>durcissement côté paiement, rotation de clé dans Vault.</a:t>
            </a:r>
          </a:p>
          <a:p/>
          <a:p>
            <a:r>
              <a:t>Deux choix à retenir : le WAF ne déclenche rien, il obéit au playbook. Et le ML</a:t>
            </a:r>
          </a:p>
          <a:p>
            <a:r>
              <a:t>est hors du chemin critique : si on l'arrête, le paiement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grille locale demande « les cinq piliers présents et réellement</a:t>
            </a:r>
          </a:p>
          <a:p>
            <a:r>
              <a:t>interconnectés ». Nous avons évité le piège de la diapositive à logos : chaque</a:t>
            </a:r>
          </a:p>
          <a:p>
            <a:r>
              <a:t>ligne dit quel flux rend le pilier réel, et quelle preuve l'accompagne.</a:t>
            </a:r>
          </a:p>
          <a:p/>
          <a:p>
            <a:r>
              <a:t>Si on vous demande « où est le lien entre IA et INFRA ? » : le détecteur publie</a:t>
            </a:r>
          </a:p>
          <a:p>
            <a:r>
              <a:t>un incident au moteur, qui exécute Ansible. C'est le même verrou et le même</a:t>
            </a:r>
          </a:p>
          <a:p>
            <a:r>
              <a:t>playbook que pour une alerte SIEM.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qui vient toujours : « c'est du vrai Monero ? » Réponse honnête : non,</a:t>
            </a:r>
          </a:p>
          <a:p>
            <a:r>
              <a:t>c'est un modèle simplifié mais réel sur Ristretto255. Les adresses one-time sont</a:t>
            </a:r>
          </a:p>
          <a:p>
            <a:r>
              <a:t>dérivées par ECDH, la key image utilise un vrai hash-vers-le-groupe — donc</a:t>
            </a:r>
          </a:p>
          <a:p>
            <a:r>
              <a:t>personne ne peut la forger — et la signature est une bLSAG, pas une simulation.</a:t>
            </a:r>
          </a:p>
          <a:p/>
          <a:p>
            <a:r>
              <a:t>Deux écarts : la signature est plus grosse qu'une CLSAG, et il n'y a pas de</a:t>
            </a:r>
          </a:p>
          <a:p>
            <a:r>
              <a:t>Bulletproofs. Conséquence : un montant négatif modulo l passerait la</a:t>
            </a:r>
          </a:p>
          <a:p>
            <a:r>
              <a:t>vérification d'équilibre. Il faut un attaquant authentifié qui forge ses</a:t>
            </a:r>
          </a:p>
          <a:p>
            <a:r>
              <a:t>engagements. C'est écrit dans /healthz et dans le dossier — c'est notre première</a:t>
            </a:r>
          </a:p>
          <a:p>
            <a:r>
              <a:t>tâche après le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point que le jury teste. Le seuil n'est pas dans le code : il est dans</a:t>
            </a:r>
          </a:p>
          <a:p>
            <a:r>
              <a:t>threshold.json, appris sur une capture du trafic de ce poste, et le runtime</a:t>
            </a:r>
          </a:p>
          <a:p>
            <a:r>
              <a:t>refuse un seuil qui vient d'un autre modèle.</a:t>
            </a:r>
          </a:p>
          <a:p/>
          <a:p>
            <a:r>
              <a:t>Pourquoi une seule feature porte l'attaque ? Parce qu'un wallet tire ses leurres</a:t>
            </a:r>
          </a:p>
          <a:p>
            <a:r>
              <a:t>selon une gamma biaisée vers les récents — 3,6 jours mesurés — alors qu'un</a:t>
            </a:r>
          </a:p>
          <a:p>
            <a:r>
              <a:t>attaquant qui empoisonne pioche uniformément — 26,9 jours. Il n'y a aucun</a:t>
            </a:r>
          </a:p>
          <a:p>
            <a:r>
              <a:t>chevauchement. Les cinq autres features couvrent les autres familles : rejeu,</a:t>
            </a:r>
          </a:p>
          <a:p>
            <a:r>
              <a:t>rafale, anneau malformé.</a:t>
            </a:r>
          </a:p>
          <a:p/>
          <a:p>
            <a:r>
              <a:t>Et on exige trois fenêtres consécutives : un pic isolé ne déclenche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playbook est un vrai ansible-playbook, dans l'image du moteur. Cinq actions :</a:t>
            </a:r>
          </a:p>
          <a:p>
            <a:r>
              <a:t>déception, quarantaine, durcissement, rotation de clé, puis vérification par la</a:t>
            </a:r>
          </a:p>
          <a:p>
            <a:r>
              <a:t>sonde.</a:t>
            </a:r>
          </a:p>
          <a:p/>
          <a:p>
            <a:r>
              <a:t>Ce que nous ne faisons pas, volontairement : redémarrer payment-api. La première</a:t>
            </a:r>
          </a:p>
          <a:p>
            <a:r>
              <a:t>version du playbook le faisait, protégée par ignore_errors ; elle aurait effacé</a:t>
            </a:r>
          </a:p>
          <a:p>
            <a:r>
              <a:t>le registre d'outputs, c'est-à-dire exactement la preuve que la démo doit</a:t>
            </a:r>
          </a:p>
          <a:p>
            <a:r>
              <a:t>montrer. Un redémarrage destructif n'est pas une remédiation.</a:t>
            </a:r>
          </a:p>
          <a:p/>
          <a:p>
            <a:r>
              <a:t>Détail d'ingénierie : le moteur répond 202 tout de suite et publie l'état en</a:t>
            </a:r>
          </a:p>
          <a:p>
            <a:r>
              <a:t>SSE. La version synchrone tombait en timeout alors que la remédiation marchait.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chiffres sont ceux du matin de la soutenance, pas d'il y a trois semaines.</a:t>
            </a:r>
          </a:p>
          <a:p>
            <a:r>
              <a:t>Trois exécutions de suite, sans redémarrer la pile : la fenêtre du détecteur est</a:t>
            </a:r>
          </a:p>
          <a:p>
            <a:r>
              <a:t>purgée entre deux, sinon la deuxième démo serait contaminée par la première.</a:t>
            </a:r>
          </a:p>
          <a:p/>
          <a:p>
            <a:r>
              <a:t>La marge est de 83 secondes sur la limite de 90. Elle sert à lire le journal</a:t>
            </a:r>
          </a:p>
          <a:p>
            <a:r>
              <a:t>Ansible et à commenter, pas à attendre.</a:t>
            </a:r>
          </a:p>
          <a:p/>
          <a:p>
            <a:r>
              <a:t>Et 226 tests, dont un par faille fermée : une correction sans test revient au</a:t>
            </a:r>
          </a:p>
          <a:p>
            <a:r>
              <a:t>premier refactor.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règles du 20 octobre ont déplacé le sujet : il fallait un site vitrine</a:t>
            </a:r>
          </a:p>
          <a:p>
            <a:r>
              <a:t>connecté à une base, un front, un back, un paiement avec stockage et historique.</a:t>
            </a:r>
          </a:p>
          <a:p/>
          <a:p>
            <a:r>
              <a:t>Nous avons écrit la boutique plutôt qu'installé Prestashop : le modèle de</a:t>
            </a:r>
          </a:p>
          <a:p>
            <a:r>
              <a:t>données, la surface d'attaque et la preuve sont maîtrisés.</a:t>
            </a:r>
          </a:p>
          <a:p/>
          <a:p>
            <a:r>
              <a:t>Point à assumer : c'est un achat invité, sans création de compte — c'est un</a:t>
            </a:r>
          </a:p>
          <a:p>
            <a:r>
              <a:t>choix de vitrine. Mais le ticket porte un nom et une adresse, l'historique est</a:t>
            </a:r>
          </a:p>
          <a:p>
            <a:r>
              <a:t>protégé par un jeton de capacité, et le prix vient toujours de la base. Un prix</a:t>
            </a:r>
          </a:p>
          <a:p>
            <a:r>
              <a:t>envoyé par le client est ignoré.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briques d'IA, deux rôles.</a:t>
            </a:r>
          </a:p>
          <a:p/>
          <a:p>
            <a:r>
              <a:t>Le RAG répond sur le dossier technique : 18 documents, 709 passages, et surtout</a:t>
            </a:r>
          </a:p>
          <a:p>
            <a:r>
              <a:t>il cite ses sources. Si Ollama n'est pas joignable, il passe en extractif — les</a:t>
            </a:r>
          </a:p>
          <a:p>
            <a:r>
              <a:t>phrases du dossier — et il le dit dans /healthz. Un assistant qui invente serait</a:t>
            </a:r>
          </a:p>
          <a:p>
            <a:r>
              <a:t>pire qu'un assistant qui cite.</a:t>
            </a:r>
          </a:p>
          <a:p/>
          <a:p>
            <a:r>
              <a:t>L'ingestion SIEM est la partie « l'IA agit » : une alerte actionnable ouvre un</a:t>
            </a:r>
          </a:p>
          <a:p>
            <a:r>
              <a:t>incident et lance le même playbook que le ML. Une alerte de confort, comme un</a:t>
            </a:r>
          </a:p>
          <a:p>
            <a:r>
              <a:t>bandeau LED muet, est journalisée sans agir. Et trois à cinq alertes en cascade</a:t>
            </a:r>
          </a:p>
          <a:p>
            <a:r>
              <a:t>décrivent un seul incident, pas cinq.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jury du 20 octobre a remplacé « pas de faille volontaire » par « SI</a:t>
            </a:r>
          </a:p>
          <a:p>
            <a:r>
              <a:t>invulnérable ». Aucun SI ne l'est. Ce que nous pouvons prouver, c'est le</a:t>
            </a:r>
          </a:p>
          <a:p>
            <a:r>
              <a:t>travail : 12 failles trouvées et fermées, 4 bugs critiques, et un test nommé</a:t>
            </a:r>
          </a:p>
          <a:p>
            <a:r>
              <a:t>pour chaque correction.</a:t>
            </a:r>
          </a:p>
          <a:p/>
          <a:p>
            <a:r>
              <a:t>Les deux plus parlantes : deux curl simultanés réussissaient une double dépense</a:t>
            </a:r>
          </a:p>
          <a:p>
            <a:r>
              <a:t>— la propriété centrale du projet était contournable. Et la règle Loki qui</a:t>
            </a:r>
          </a:p>
          <a:p>
            <a:r>
              <a:t>devait alerter sur un paiement refusé visait le mauvais service : l'alerte ne</a:t>
            </a:r>
          </a:p>
          <a:p>
            <a:r>
              <a:t>pouvait jamais se déclencher, donc aucune remédiation.</a:t>
            </a:r>
          </a:p>
          <a:p/>
          <a:p>
            <a:r>
              <a:t>La phrase à retenir : nous ne disons pas invulnérable, nous disons vérifiable.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gouvernance n'est pas un document à part : chaque ligne renvoie à un</a:t>
            </a:r>
          </a:p>
          <a:p>
            <a:r>
              <a:t>composant du démonstrateur.</a:t>
            </a:r>
          </a:p>
          <a:p/>
          <a:p>
            <a:r>
              <a:t>EBIOS : sept scénarios, dont celui qui nous intéresse le plus, la panne</a:t>
            </a:r>
          </a:p>
          <a:p>
            <a:r>
              <a:t>silencieuse — c'est le risque le plus probable, et il n'a rien à voir avec un</a:t>
            </a:r>
          </a:p>
          <a:p>
            <a:r>
              <a:t>attaquant.</a:t>
            </a:r>
          </a:p>
          <a:p/>
          <a:p>
            <a:r>
              <a:t>PCA/PRA : 15 secondes de RTO sur le paiement, contre 7 secondes mesurées. La</a:t>
            </a:r>
          </a:p>
          <a:p>
            <a:r>
              <a:t>marge couvre le cas où la remédiation échoue et où l'exploitant redémarre.</a:t>
            </a:r>
          </a:p>
          <a:p/>
          <a:p>
            <a:r>
              <a:t>Et la vraie faiblesse de continuité : PostgreSQL porte les commandes et le</a:t>
            </a:r>
          </a:p>
          <a:p>
            <a:r>
              <a:t>registre d'outputs dans la même base, sans pg_dump scripté. Le RPO n'est pas</a:t>
            </a:r>
          </a:p>
          <a:p>
            <a:r>
              <a:t>borné. C'est écrit noir sur blanc.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diapositive est volontairement inconfortable : c'est celle qui nous</a:t>
            </a:r>
          </a:p>
          <a:p>
            <a:r>
              <a:t>protège en Q&amp;A.</a:t>
            </a:r>
          </a:p>
          <a:p/>
          <a:p>
            <a:r>
              <a:t>Si on nous demande « votre système est-il sûr ? », la réponse est : 12 failles</a:t>
            </a:r>
          </a:p>
          <a:p>
            <a:r>
              <a:t>fermées, et voici les dix limites qui restent. Bulletproofs, vivacité, TLS,</a:t>
            </a:r>
          </a:p>
          <a:p>
            <a:r>
              <a:t>AppRole, mono-nœud. Chacune a une raison et une échéance.</a:t>
            </a:r>
          </a:p>
          <a:p/>
          <a:p>
            <a:r>
              <a:t>Le pire scénario, c'est que le jury découvre une limite que nous n'avons pas</a:t>
            </a:r>
          </a:p>
          <a:p>
            <a:r>
              <a:t>écrite. Le meilleur, c'est qu'il en cite une et que nous puissions dire : oui,</a:t>
            </a:r>
          </a:p>
          <a:p>
            <a:r>
              <a:t>page 9 du dossier, voilà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Voilà le déroulé. Le chronométreur annonce 18 secondes, 38 secondes, 57.</a:t>
            </a:r>
          </a:p>
          <a:p/>
          <a:p>
            <a:r>
              <a:t>De 38 à 52, personne ne touche à rien. C'est la règle absolue : une intervention</a:t>
            </a:r>
          </a:p>
          <a:p>
            <a:r>
              <a:t>humaine pendant la remédiation donne zéro sur l'axe 1.</a:t>
            </a:r>
          </a:p>
          <a:p/>
          <a:p>
            <a:r>
              <a:t>Le geste de 52 secondes est le cœur : on retape un paiement avec le PIN du jour,</a:t>
            </a:r>
          </a:p>
          <a:p>
            <a:r>
              <a:t>et on dit « un client peut de nouveau payer ». Ce n'est pas une action</a:t>
            </a:r>
          </a:p>
          <a:p>
            <a:r>
              <a:t>d'administration.</a:t>
            </a:r>
          </a:p>
          <a:p/>
          <a:p>
            <a:r>
              <a:t>Si un plan tombe — le badge ne bouge pas, le journal ne défile pas — on garde le</a:t>
            </a:r>
          </a:p>
          <a:p>
            <a:r>
              <a:t>plan large, on commente ce qui est affiché, et on ne clique pas. Le clip de</a:t>
            </a:r>
          </a:p>
          <a:p>
            <a:r>
              <a:t>secours existe pour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finir : la leçon d'ingénierie du projet n'est pas « nous avons résisté à</a:t>
            </a:r>
          </a:p>
          <a:p>
            <a:r>
              <a:t>l'attaque ». C'est que sur tous les défauts corrigés, aucun n'était une attaque</a:t>
            </a:r>
          </a:p>
          <a:p>
            <a:r>
              <a:t>réussie : c'étaient des pannes silencieuses. Une image sans modèle, un webhook</a:t>
            </a:r>
          </a:p>
          <a:p>
            <a:r>
              <a:t>cassé, un verrou jamais réarmé, une alerte qui visait le mauvais service.</a:t>
            </a:r>
          </a:p>
          <a:p/>
          <a:p>
            <a:r>
              <a:t>D'où la phrase : un système qui échoue bruyamment vaut mieux qu'un système qui</a:t>
            </a:r>
          </a:p>
          <a:p>
            <a:r>
              <a:t>réussit en silence.</a:t>
            </a:r>
          </a:p>
          <a:p/>
          <a:p>
            <a:r>
              <a:t>Trois chiffres à retenir : 7 secondes de reprise, 226 tests, 12 failles fermées.</a:t>
            </a:r>
          </a:p>
          <a:p>
            <a:r>
              <a:t>Merci. Nous prenons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880"/>
                </a:solidFill>
                <a:latin typeface="Montserrat"/>
              </a:rPr>
              <a:t>WORKSHOP M2 —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261E48"/>
                </a:solidFill>
                <a:latin typeface="Montserrat"/>
              </a:rPr>
              <a:t>RESILIENCE-ALPHA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1A6D4"/>
                </a:solidFill>
                <a:latin typeface="Montserrat"/>
              </a:rPr>
              <a:t>SHADOW-SETTLE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61E48"/>
                </a:solidFill>
                <a:latin typeface="Montserrat"/>
              </a:rPr>
              <a:t>Un SI de paiement qui encaisse l'attaque,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61E48"/>
                </a:solidFill>
                <a:latin typeface="Montserrat"/>
              </a:rPr>
              <a:t>se relève seul et le prouve.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61E48"/>
                </a:solidFill>
                <a:latin typeface="Montserrat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046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880"/>
                </a:solidFill>
                <a:latin typeface="Montserrat"/>
              </a:rP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84632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61E48"/>
                </a:solidFill>
                <a:latin typeface="Montserrat"/>
              </a:rP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5046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880"/>
                </a:solidFill>
                <a:latin typeface="Montserrat"/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84632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61E48"/>
                </a:solidFill>
                <a:latin typeface="Montserrat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046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880"/>
                </a:solidFill>
                <a:latin typeface="Montserrat"/>
              </a:rPr>
              <a:t>failles fermées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84632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61E48"/>
                </a:solidFill>
                <a:latin typeface="Montserrat"/>
              </a:rPr>
              <a:t>7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5046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880"/>
                </a:solidFill>
                <a:latin typeface="Montserrat"/>
              </a:rPr>
              <a:t>de reprise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880"/>
                </a:solidFill>
                <a:latin typeface="Montserrat"/>
              </a:rPr>
              <a:t>Workshop2026-M2-G1 · soutenance du 23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Le problème : on relance à la main, et on ne le prouve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261E48"/>
                </a:solidFill>
                <a:latin typeface="Montserrat"/>
              </a:rPr>
              <a:t>—  Une plateforme de paiement subit des incidents à répétition.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261E48"/>
                </a:solidFill>
                <a:latin typeface="Montserrat"/>
              </a:rPr>
              <a:t>—  À chaque fois, les équipes redémarrent : lent, non reproductible, non traçable.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261E48"/>
                </a:solidFill>
                <a:latin typeface="Montserrat"/>
              </a:rPr>
              <a:t>—  Un redémarrage n'est pas une remédiation : il efface la preuve.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261E48"/>
                </a:solidFill>
                <a:latin typeface="Montserrat"/>
              </a:rPr>
              <a:t>—  Le sujet impose trois choses : attaque réelle, ML (pas de seuils fixes), preuve de reprise.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114800"/>
            <a:ext cx="3749039" cy="173736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5240">
            <a:solidFill>
              <a:srgbClr val="0F9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4261104"/>
            <a:ext cx="3346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9D63"/>
                </a:solidFill>
                <a:latin typeface="Montserrat"/>
              </a:rPr>
              <a:t>Ce que nous mesurons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4645152"/>
            <a:ext cx="33467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attaque → détection → playbook →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transaction de preuve → déception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6,7 à 7,7 s (limite 90 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PROMESSE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La réponse : une chaîne, quatre preuves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Montserrat"/>
              </a:rPr>
              <a:t>1 · Attaque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59152"/>
            <a:ext cx="220370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poste distinct,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leurres empoisonnés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697480"/>
            <a:ext cx="201168" cy="274320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975104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Montserrat"/>
              </a:rPr>
              <a:t>2 · Détection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359152"/>
            <a:ext cx="220370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seuil appris 6,715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3 fenêtres consécutives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217920" y="2697480"/>
            <a:ext cx="201168" cy="274320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2880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6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975104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1E48"/>
                </a:solidFill>
                <a:latin typeface="Montserrat"/>
              </a:rPr>
              <a:t>3 · Remédiation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359152"/>
            <a:ext cx="220370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Ansible réel :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déception, quarantaine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98280" y="2697480"/>
            <a:ext cx="201168" cy="274320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182880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F9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1975104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9D63"/>
                </a:solidFill>
                <a:latin typeface="Montserrat"/>
              </a:rPr>
              <a:t>4 · Preuve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359152"/>
            <a:ext cx="220370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transaction client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acceptée, key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1E48"/>
                </a:solidFill>
                <a:latin typeface="Montserrat"/>
              </a:rPr>
              <a:t>Aucune intervention humaine entre l'attaque et la reprise.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1E48"/>
                </a:solidFill>
                <a:latin typeface="Montserrat"/>
              </a:rPr>
              <a:t>Le geste final n'est pas administratif : c'est un client qui paie de nouveau.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Architecture : chaque flèche est un flux réel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9384"/>
            <a:ext cx="1655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Montserrat"/>
              </a:rPr>
              <a:t>PC Attaquant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1655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attack.py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78308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6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92938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1E48"/>
                </a:solidFill>
                <a:latin typeface="Montserrat"/>
              </a:rPr>
              <a:t>waf :8085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313432"/>
            <a:ext cx="1472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proxy + déception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7830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6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8" y="1929384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1E48"/>
                </a:solidFill>
                <a:latin typeface="Montserrat"/>
              </a:rPr>
              <a:t>payment-api :8080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313432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registre, PIN, sonde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78308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6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1929384"/>
            <a:ext cx="1929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1E48"/>
                </a:solidFill>
                <a:latin typeface="Montserrat"/>
              </a:rPr>
              <a:t>monero-crypto-core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313432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Rust · bLSAG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324612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3392424"/>
            <a:ext cx="1746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Montserrat"/>
              </a:rPr>
              <a:t>ml-detector :8083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776472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seuil appris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2461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3392424"/>
            <a:ext cx="1929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Montserrat"/>
              </a:rPr>
              <a:t>remediation-engine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776472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Ansible · SSE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324612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6B6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4408" y="339242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6880"/>
                </a:solidFill>
                <a:latin typeface="Montserrat"/>
              </a:rPr>
              <a:t>shadow-api :8090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4408" y="3776472"/>
            <a:ext cx="1472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honeypot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470916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F9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4855464"/>
            <a:ext cx="1929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9D63"/>
                </a:solidFill>
                <a:latin typeface="Montserrat"/>
              </a:rPr>
              <a:t>front-dashboard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5239512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badge · score · journal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743200" y="2148840"/>
            <a:ext cx="274320" cy="237744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4937760" y="2148840"/>
            <a:ext cx="274320" cy="237744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7406640" y="2148840"/>
            <a:ext cx="274320" cy="237744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6309360" y="2697480"/>
            <a:ext cx="502920" cy="237744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7406640" y="3703320"/>
            <a:ext cx="274320" cy="237744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4937760" y="3703320"/>
            <a:ext cx="274320" cy="237744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074920"/>
            <a:ext cx="6309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1E48"/>
                </a:solidFill>
                <a:latin typeface="Montserrat"/>
              </a:rPr>
              <a:t>Le WAF est le seul point d'entrée « client ».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1E48"/>
                </a:solidFill>
                <a:latin typeface="Montserrat"/>
              </a:rPr>
              <a:t>Le ML observe, il ne filtre pas : s'il tombe, le paiement continue.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PILIERS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Les cinq piliers, reliés par des flux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486400"/>
                <a:gridCol w="2834640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Pilier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qui le rend réel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Preuve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1E48"/>
                          </a:solidFill>
                          <a:latin typeface="Montserrat"/>
                        </a:rPr>
                        <a:t>DEV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noyau Rust bLSAG appelé à chaque transaction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9 tests Rust + 10 HTTP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1E48"/>
                          </a:solidFill>
                          <a:latin typeface="Montserrat"/>
                        </a:rPr>
                        <a:t>INFRA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playbook Ansible exécuté dans l'image, 12 cibles Prometheus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chaos 6/6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1E48"/>
                          </a:solidFill>
                          <a:latin typeface="Montserrat"/>
                        </a:rPr>
                        <a:t>IA/DATA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seuil appris sur le trafic du poste, AUC 1,00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FPR 0 %, rappel 100 %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1E48"/>
                          </a:solidFill>
                          <a:latin typeface="Montserrat"/>
                        </a:rPr>
                        <a:t>CYBER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déception active, honeypot, 2FA visage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4 + 6 familles d'attaques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1E48"/>
                          </a:solidFill>
                          <a:latin typeface="Montserrat"/>
                        </a:rPr>
                        <a:t>TRANSFORMATION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EBIOS, PCA/PRA, NIS2, DORA reliés aux composants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1E48"/>
                          </a:solidFill>
                          <a:latin typeface="Montserrat"/>
                        </a:rPr>
                        <a:t>RTO 15 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880"/>
                </a:solidFill>
                <a:latin typeface="Montserrat"/>
              </a:rPr>
              <a:t>Un pilier n'est pas « présent » parce qu'un conteneur porte son nom : il l'est quand un flux le traverse.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La cryptographie est réelle, et ses limites sont écrites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F9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4718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9D63"/>
                </a:solidFill>
                <a:latin typeface="Montserrat"/>
              </a:rPr>
              <a:t>Ce qui est implémenté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471830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Ristretto255 · adresses one-time par ECDH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key image I = x·Hp(P), hash-vers-le-groupe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signature d'anneau bLSAG · engagements de Pedersen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audit view-only : lire sans pouvoir dépenser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37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1883664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Montserrat"/>
              </a:rPr>
              <a:t>Les deux écarts assumés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2267712"/>
            <a:ext cx="49926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CLSAG → bLSAG : signature ~2× plus grosse, même sécurité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pas de Bulletproofs : un montant négatif modulo l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passerait l'équilibre — publié dans /healthz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Ce n'est pas du Monero de production, et nous ne le prétendons pas.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C'est un modèle simplifié mais réel : une signature est produite, vérifiée,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et un rejeu de key image est refusé en 409 — y compris sous concurrence.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La détection est apprise, pas un seuil déguisé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9D63"/>
                </a:solidFill>
                <a:latin typeface="Montserrat"/>
              </a:rPr>
              <a:t>6,715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00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880"/>
                </a:solidFill>
                <a:latin typeface="Montserrat"/>
              </a:rPr>
              <a:t>seuil appris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916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9D63"/>
                </a:solidFill>
                <a:latin typeface="Montserrat"/>
              </a:rPr>
              <a:t>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500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880"/>
                </a:solidFill>
                <a:latin typeface="Montserrat"/>
              </a:rPr>
              <a:t>faux positifs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6916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9D63"/>
                </a:solidFill>
                <a:latin typeface="Montserrat"/>
              </a:rPr>
              <a:t>100 %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3500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880"/>
                </a:solidFill>
                <a:latin typeface="Montserrat"/>
              </a:rPr>
              <a:t>rappel mesuré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61E48"/>
                </a:solidFill>
                <a:latin typeface="Montserrat"/>
              </a:rPr>
              <a:t>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500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880"/>
                </a:solidFill>
                <a:latin typeface="Montserrat"/>
              </a:rPr>
              <a:t>AUC sur l'âge des leurres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106070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1 287 observations capturées sur CE poste, puis entraînement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(StandardScaler + IsolationForest + autoencodeur PyTorch).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Gamma réelle : 3,6 j ± 0,2  ·  Attaquant uniforme : 26,9 j ± 2,3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Aucun chevauchement : c'est physique, pas un réglage.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8920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5240">
            <a:solidFill>
              <a:srgbClr val="26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5038344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1E48"/>
                </a:solidFill>
                <a:latin typeface="Montserrat"/>
              </a:rPr>
              <a:t>Trois fenêtres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5422392"/>
            <a:ext cx="27980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consécutives avant de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déclencher : pas de faux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positif isolé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REMÉDIATION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La remédiation est autonome, et elle ne redémarre rien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1E48"/>
                </a:solidFill>
                <a:latin typeface="Montserrat"/>
              </a:rPr>
              <a:t>—  Déception : le WAF déroute l'attaquant vers le honeypot.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1E48"/>
                </a:solidFill>
                <a:latin typeface="Montserrat"/>
              </a:rPr>
              <a:t>—  Quarantaine : les 25 outputs les plus anciens sont retirés du pool.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1E48"/>
                </a:solidFill>
                <a:latin typeface="Montserrat"/>
              </a:rPr>
              <a:t>—  Durcissement : l'anneau passe de 11 à 25 leurres.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1E48"/>
                </a:solidFill>
                <a:latin typeface="Montserrat"/>
              </a:rPr>
              <a:t>—  Rotation : la clé JWT est tournée dans Vault, relue en 30 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700">
                <a:solidFill>
                  <a:srgbClr val="261E48"/>
                </a:solidFill>
                <a:latin typeface="Montserrat"/>
              </a:rPr>
              <a:t>—  Preuve : la sonde de transaction doit répondre 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160520"/>
            <a:ext cx="3931920" cy="169164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524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4306824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Montserrat"/>
              </a:rPr>
              <a:t>Ce qu'on ne fait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4690872"/>
            <a:ext cx="3529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redémarrer payment-api :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un redémarrage efface la preuve.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Ce n'est pas une remédiation.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PREUVES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Trois exécutions consécutives, mêmes résultats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9235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463040"/>
                <a:gridCol w="1828800"/>
                <a:gridCol w="1371600"/>
                <a:gridCol w="1463040"/>
              </a:tblGrid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Exécution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Détection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Reprise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TX de preuve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Déception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Ansible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1E48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3,6 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7,2 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OK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active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rc =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1E48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3,4 s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7,4 s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OK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active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rc = 0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1E48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3,1 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6,7 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OK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active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1E48"/>
                          </a:solidFill>
                          <a:latin typeface="Montserrat"/>
                        </a:rPr>
                        <a:t>rc =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692640" y="1783080"/>
            <a:ext cx="1737360" cy="210312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5240">
            <a:solidFill>
              <a:srgbClr val="0F9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93808" y="1929384"/>
            <a:ext cx="13350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9D63"/>
                </a:solidFill>
                <a:latin typeface="Montserrat"/>
              </a:rPr>
              <a:t>Limite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3808" y="2313432"/>
            <a:ext cx="1335024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90 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marge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≈ 83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226 tests · 4 familles d'attaques + 6 familles boutique · chaos 6/6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La reprise n'est pas un indicateur : c'est une transaction réelle, avec sa key image.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Le SI est un site de paiement, pas seulement un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>
                <a:solidFill>
                  <a:srgbClr val="261E48"/>
                </a:solidFill>
                <a:latin typeface="Montserrat"/>
              </a:rPr>
              <a:t>—  6 articles en PostgreSQL — le front lit GET /products, rien n'est codé en dur.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>
                <a:solidFill>
                  <a:srgbClr val="261E48"/>
                </a:solidFill>
                <a:latin typeface="Montserrat"/>
              </a:rPr>
              <a:t>—  Panier en base, stock réservé en transaction, jamais négatif.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>
                <a:solidFill>
                  <a:srgbClr val="261E48"/>
                </a:solidFill>
                <a:latin typeface="Montserrat"/>
              </a:rPr>
              <a:t>—  Payer → signature bLSAG → commande paid avec sa key image (72 ms).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>
                <a:solidFill>
                  <a:srgbClr val="261E48"/>
                </a:solidFill>
                <a:latin typeface="Montserrat"/>
              </a:rPr>
              <a:t>—  Historique protégé par un capability token de 192 bits : sans lui, 404.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>
                <a:solidFill>
                  <a:srgbClr val="261E48"/>
                </a:solidFill>
                <a:latin typeface="Montserrat"/>
              </a:rPr>
              <a:t>—  Achat invité assumé : le ticket porte un nom et un e-mail, pas de compte.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20624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5240">
            <a:solidFill>
              <a:srgbClr val="26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4352544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1E48"/>
                </a:solidFill>
                <a:latin typeface="Montserrat"/>
              </a:rPr>
              <a:t>Ce que l'admin voit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736592"/>
            <a:ext cx="31638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client, montant, key image,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événements de paiement,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stock temps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L'IA répond en citant, et agit sur les alertes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F9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9D63"/>
                </a:solidFill>
                <a:latin typeface="Montserrat"/>
              </a:rPr>
              <a:t>RAG — 18 documents, 709 passages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480974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BM25 construit au build sur le dossier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réponse + sources (fichier, section, score)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Ollama llama3.1:8b sur le PC hôte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sinon extractif — il cite, il n'invente pas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6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883664"/>
            <a:ext cx="49011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1E48"/>
                </a:solidFill>
                <a:latin typeface="Montserrat"/>
              </a:rPr>
              <a:t>SIEM — l'alerte déclenche le playbook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267712"/>
            <a:ext cx="4901183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Prometheus 24 règles · Loki 4 règles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Alertmanager → POST /alert → même moteur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corrélation : 3 à 5 alertes = 1 incident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les alertes de confort sont ignorées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Le même chemin que le détecteur ML : même verrou, même playbook, même preuve.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Deux chemins de remédiation finiraient par diverger.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12 failles fermées, 4 bugs critiques, 10 limites écrites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663440"/>
                <a:gridCol w="33832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Famille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Exemple trouvé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Correction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Authentification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login acceptait n'importe quel secret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SHA-256, temps constant, 503 fail-closed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Administration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/admin/* de payment-api ouverts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jeton de service obligatoire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Concurrence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double dépense par deux curl simultanés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key image réservée avant le premier await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Données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oracle 404/500 sur l'historique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format validé, 404 uniforme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Chaîne SIEM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alerte Loki visant le mauvais service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sélecteur corrigé + contrôle statique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Nous ne disons pas « invulnérable ». Nous disons : 12 failles fermées,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1E48"/>
                </a:solidFill>
                <a:latin typeface="Montserrat"/>
              </a:rPr>
              <a:t>chacune avec son test, et 6 familles d'attaques rejouables en une commande.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GOUVERNANCE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Gouvernance : les risques sont reliés au démonstrateur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212080"/>
                <a:gridCol w="3017520"/>
              </a:tblGrid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Référentiel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Ce qui est couvert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Ce qui ne l'est pas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EBIOS RM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7 scénarios, dont empoisonnement, rejeu, panne silencieuse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audit externe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PCA / PRA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RTO 15 s sur le paiement ; RPO non borné sur PostgreSQL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pg_dump non scripté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NIS2 art. 21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risques, incidents, continuité, MFA back-office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MFA du terminal (PIN seul)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DORA art. 19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audit view-only, journal d'audit, journaux Loki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revue d'accès périodique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RGPD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minimisation : pas d'image conservée, descripteur seul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registre, DPO, AIPD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1E48"/>
                </a:solidFill>
                <a:latin typeface="Montserrat"/>
              </a:rPr>
              <a:t>La limite la plus importante : db-postgres porte les commandes ET le registre d'outputs.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1E48"/>
                </a:solidFill>
                <a:latin typeface="Montserrat"/>
              </a:rPr>
              <a:t>Sans sauvegarde scriptée, le RPO n'est pas borné — c'est écrit, pas supposé.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Ce qui reste ouvert, et pourquoi c'est acceptable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5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49039"/>
                <a:gridCol w="3749039"/>
              </a:tblGrid>
              <a:tr h="4702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Limite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Effet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Pourquoi c'est acceptable</a:t>
                      </a:r>
                    </a:p>
                  </a:txBody>
                  <a:tcPr marL="73152" marR="54864" marT="27432" marB="27432" anchor="ctr">
                    <a:solidFill>
                      <a:srgbClr val="261E4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Pas de Bulletproofs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montant négatif modulo 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exige un attaquant authentifié qui forge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Pas de vivacité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une photo passe le facteur visage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le mot de passe reste exigé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Pas de TLS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trafic local lisible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démo sur localhost ; la caméra l'exige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AppRole Vault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le playbook utilise un jeton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pas de privilège root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PostgreSQL mono-nœud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pas de bascule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démonstration sur un seul poste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1E48"/>
                          </a:solidFill>
                          <a:latin typeface="Montserrat"/>
                        </a:rPr>
                        <a:t>WAF non générique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pas de couverture OWASP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1E48"/>
                          </a:solidFill>
                          <a:latin typeface="Montserrat"/>
                        </a:rPr>
                        <a:t>validation Pydantic par service</a:t>
                      </a:r>
                    </a:p>
                  </a:txBody>
                  <a:tcPr marL="73152" marR="54864" marT="27432" marB="27432" anchor="ctr">
                    <a:solidFill>
                      <a:srgbClr val="F4F5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6880"/>
                </a:solidFill>
                <a:latin typeface="Montserrat"/>
              </a:rPr>
              <a:t>Une limite écrite et datée ne coûte pas de point. Une limite découverte en Q&amp;A en coûte.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6880"/>
                </a:solidFill>
                <a:latin typeface="Montserrat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61E48"/>
                </a:solidFill>
                <a:latin typeface="Montserrat"/>
              </a:rPr>
              <a:t>La démonstration, seconde par seconde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F9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29384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9D63"/>
                </a:solidFill>
                <a:latin typeface="Montserrat"/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13432"/>
            <a:ext cx="13807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identifiant → visage → mot de passe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56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9D63"/>
                </a:solidFill>
                <a:latin typeface="Montserrat"/>
              </a:rPr>
              <a:t>0-18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178308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61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1929384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61E48"/>
                </a:solidFill>
                <a:latin typeface="Montserrat"/>
              </a:rPr>
              <a:t>Boutique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6" y="2313432"/>
            <a:ext cx="13807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catalogue, panier, paiement,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456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61E48"/>
                </a:solidFill>
                <a:latin typeface="Montserrat"/>
              </a:rPr>
              <a:t>18-38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78308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929384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Montserrat"/>
              </a:rPr>
              <a:t>Attaque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313432"/>
            <a:ext cx="13807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poison depuis le PC Attaquant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3456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102E"/>
                </a:solidFill>
                <a:latin typeface="Montserrat"/>
              </a:rPr>
              <a:t>38-42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78308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29384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Montserrat"/>
              </a:rPr>
              <a:t>Remédiation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313432"/>
            <a:ext cx="13807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badge, score, journal Ansible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456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Montserrat"/>
              </a:rPr>
              <a:t>42-52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178308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F9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929384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9D63"/>
                </a:solidFill>
                <a:latin typeface="Montserrat"/>
              </a:rPr>
              <a:t>Reprise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313432"/>
            <a:ext cx="13807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paiement de preuve avec le PIN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456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9D63"/>
                </a:solidFill>
                <a:latin typeface="Montserrat"/>
              </a:rPr>
              <a:t>52-57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178308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6B6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96728" y="1929384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6880"/>
                </a:solidFill>
                <a:latin typeface="Montserrat"/>
              </a:rPr>
              <a:t>Déception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6728" y="2313432"/>
            <a:ext cx="13807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61E48"/>
                </a:solidFill>
                <a:latin typeface="Montserrat"/>
              </a:rPr>
              <a:t>l'attaquant tape dans le vide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34564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6880"/>
                </a:solidFill>
                <a:latin typeface="Montserrat"/>
              </a:rPr>
              <a:t>57-60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0690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61E48"/>
                </a:solidFill>
                <a:latin typeface="Montserrat"/>
              </a:rPr>
              <a:t>Deux règles : personne ne touche au clavier entre 38 et 52 s,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61E48"/>
                </a:solidFill>
                <a:latin typeface="Montserrat"/>
              </a:rPr>
              <a:t>et le paiement de 52 s est présenté comme un client — pas comme un administrateur.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61E48"/>
                </a:solidFill>
                <a:latin typeface="Montserrat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61E48"/>
                </a:solidFill>
                <a:latin typeface="Montserrat"/>
              </a:rPr>
              <a:t>Si un plan tombe : on garde le plan large et on commente le badge, jamais on ne clique.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RESILIENCE-ALPHA · SHADOW-SETTLE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880"/>
                </a:solidFill>
                <a:latin typeface="Montserrat"/>
              </a:rPr>
              <a:t>G1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6D4"/>
                </a:solidFill>
                <a:latin typeface="Montserrat"/>
              </a:rPr>
              <a:t>EN UNE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Un système qui échoue bruyamment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vaut mieux qu'un système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qui réussit en silence.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1A6D4"/>
                </a:solidFill>
                <a:latin typeface="Montserrat"/>
              </a:rPr>
              <a:t>7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Montserrat"/>
              </a:rPr>
              <a:t>de reprise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1148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1A6D4"/>
                </a:solidFill>
                <a:latin typeface="Montserrat"/>
              </a:rPr>
              <a:t>221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7548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Montserrat"/>
              </a:rPr>
              <a:t>tests verts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1148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1A6D4"/>
                </a:solidFill>
                <a:latin typeface="Montserrat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7548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Montserrat"/>
              </a:rPr>
              <a:t>failles fermées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